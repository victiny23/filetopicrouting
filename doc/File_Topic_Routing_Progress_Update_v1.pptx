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80" r:id="rId19"/>
    <p:sldId id="273" r:id="rId20"/>
    <p:sldId id="281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88"/>
    <p:restoredTop sz="94618"/>
  </p:normalViewPr>
  <p:slideViewPr>
    <p:cSldViewPr snapToGrid="0" snapToObjects="1">
      <p:cViewPr varScale="1">
        <p:scale>
          <a:sx n="125" d="100"/>
          <a:sy n="125" d="100"/>
        </p:scale>
        <p:origin x="176" y="16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B2A4A"/>
                </a:solidFill>
                <a:latin typeface="Calibri"/>
              </a:rPr>
              <a:t>File Topic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871648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 dirty="0">
                <a:solidFill>
                  <a:srgbClr val="4A5568"/>
                </a:solidFill>
                <a:latin typeface="Calibri"/>
              </a:rPr>
              <a:t>Progress update: synthetic data + ML proof of concept (v0)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23620"/>
            <a:ext cx="601292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 dirty="0">
                <a:solidFill>
                  <a:srgbClr val="4A5568"/>
                </a:solidFill>
                <a:latin typeface="Calibri"/>
              </a:rPr>
              <a:t>Binary routing: target vs other from article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2569999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dirty="0">
                <a:solidFill>
                  <a:srgbClr val="4A5568"/>
                </a:solidFill>
                <a:latin typeface="Calibri"/>
              </a:rPr>
              <a:t>Internal progress readout</a:t>
            </a:r>
            <a:endParaRPr lang="en-US" b="0" dirty="0">
              <a:solidFill>
                <a:srgbClr val="4A5568"/>
              </a:solidFill>
              <a:latin typeface="Calibri"/>
            </a:endParaRPr>
          </a:p>
          <a:p>
            <a:endParaRPr lang="en-US" dirty="0">
              <a:solidFill>
                <a:srgbClr val="4A5568"/>
              </a:solidFill>
              <a:latin typeface="Calibri"/>
            </a:endParaRPr>
          </a:p>
          <a:p>
            <a:endParaRPr lang="en-US" b="0" dirty="0">
              <a:solidFill>
                <a:srgbClr val="4A5568"/>
              </a:solidFill>
              <a:latin typeface="Calibri"/>
            </a:endParaRPr>
          </a:p>
          <a:p>
            <a:r>
              <a:rPr lang="en-US" dirty="0">
                <a:solidFill>
                  <a:srgbClr val="4A5568"/>
                </a:solidFill>
                <a:latin typeface="Calibri"/>
              </a:rPr>
              <a:t>Yao</a:t>
            </a:r>
            <a:r>
              <a:rPr lang="zh-CN" altLang="en-US" dirty="0">
                <a:solidFill>
                  <a:srgbClr val="4A5568"/>
                </a:solidFill>
                <a:latin typeface="Calibri"/>
              </a:rPr>
              <a:t> </a:t>
            </a:r>
            <a:r>
              <a:rPr lang="en-US" altLang="zh-CN" dirty="0">
                <a:solidFill>
                  <a:srgbClr val="4A5568"/>
                </a:solidFill>
                <a:latin typeface="Calibri"/>
              </a:rPr>
              <a:t>Qin 07/24/2026</a:t>
            </a:r>
            <a:endParaRPr b="0" dirty="0">
              <a:solidFill>
                <a:srgbClr val="4A556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A4A"/>
                </a:solidFill>
                <a:latin typeface="Calibri"/>
              </a:rPr>
              <a:t>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Calibri"/>
              </a:rPr>
              <a:t>What we will cover in this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1. Problem &amp; goal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2. Why an ML PoC on synthetic data first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3. Synthetic data &amp; domain understanding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4. Dataset V4 (context, snapshot, EDA)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5. ML task (v0) — flowchart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6. Results vs label-only baselines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7. What the model learned (coefficients)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8. Next steps — data &amp;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A4A"/>
                </a:solidFill>
                <a:latin typeface="Calibri"/>
              </a:rPr>
              <a:t>1. Problem &amp;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Calibri"/>
              </a:rPr>
              <a:t>What we are trying to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Business problem: route articles as target vs other from article text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Current configurable routing rule (example):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4A5568"/>
                </a:solidFill>
                <a:latin typeface="Calibri"/>
              </a:rPr>
              <a:t>target if topic in {telecommunications, cloud_computing}, else other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PoC goal (v0): show a text classifier can beat naive label-only baselines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This update covers: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4A5568"/>
                </a:solidFill>
                <a:latin typeface="Calibri"/>
              </a:rPr>
              <a:t>Synthetic article dataset (current generation: V4)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4A5568"/>
                </a:solidFill>
                <a:latin typeface="Calibri"/>
              </a:rPr>
              <a:t>Minimal ML baseline: TF-IDF + logistic regression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4A5568"/>
                </a:solidFill>
                <a:latin typeface="Calibri"/>
              </a:rPr>
              <a:t>Evidence: metrics, baseline comparison, feature coefficients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A4A"/>
                </a:solidFill>
                <a:latin typeface="Calibri"/>
              </a:rPr>
              <a:t>2. Why an ML PoC before real data &amp; production?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Calibri"/>
              </a:rPr>
              <a:t>De-risk the learning loop early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6576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43400" y="1280160"/>
            <a:ext cx="36576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138160" y="1280160"/>
            <a:ext cx="34747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A9D8F"/>
                </a:solidFill>
                <a:latin typeface="Calibri"/>
              </a:rPr>
              <a:t>Before real corpus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Labels, splits, metrics, explainability are free to iterate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Find pipeline bugs without waiting on collection/SME time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Clarify routing definition before expensive labeling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4173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A9D8F"/>
                </a:solidFill>
                <a:latin typeface="Calibri"/>
              </a:rPr>
              <a:t>Before advanced 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92024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Establish a simple baseline first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Know whether text signal exists at all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Avoid jumping to embeddings/complex stacks without a yardstick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4173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A9D8F"/>
                </a:solidFill>
                <a:latin typeface="Calibri"/>
              </a:rPr>
              <a:t>Before production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2024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Synth PoC ≠ production readiness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Real ingestion, monitoring, and SME labels come later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Use PoC to decide what to ask of a real knowledge corpus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A4A"/>
                </a:solidFill>
                <a:latin typeface="Calibri"/>
              </a:rPr>
              <a:t>3. Synthetic data &amp; domain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Calibri"/>
              </a:rPr>
              <a:t>How we create data — and what that means for domain knowledge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54864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63640" y="1234440"/>
            <a:ext cx="53949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A9D8F"/>
                </a:solidFill>
                <a:latin typeface="Calibri"/>
              </a:rPr>
              <a:t>How we create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Topic taxonomy (10 topics; 5–10 subtopics each)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Per topic: fictional orgs, customers, metrics, adjacent topics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Vary style, length, difficulty, cross-topic mentions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Keep topic; derive routing_label from a configurable rule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Hard examples share vocabulary across topics on 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A9D8F"/>
                </a:solidFill>
                <a:latin typeface="Calibri"/>
              </a:rPr>
              <a:t>Domain honesty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Encodes structured domain assumptions — not SME-validated knowledge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Great for controlled experiments; not a real corpus substitute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True domain depth needs real articles + SME partnership next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A4A"/>
                </a:solidFill>
                <a:latin typeface="Calibri"/>
              </a:rPr>
              <a:t>4a. How we got to V4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Calibri"/>
              </a:rPr>
              <a:t>Four iterations: more realism, same clean supervised labels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1389888"/>
            <a:ext cx="2514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A9D8F"/>
                </a:solidFill>
                <a:latin typeface="Calibri"/>
              </a:rPr>
              <a:t>V1 — Smoke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920240"/>
            <a:ext cx="2514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10 balanced topics; simple templates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Validated end-to-end ML pipeline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Too template-driven for realism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28016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93008" y="1389888"/>
            <a:ext cx="2514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A9D8F"/>
                </a:solidFill>
                <a:latin typeface="Calibri"/>
              </a:rPr>
              <a:t>V2 — Diversity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1920240"/>
            <a:ext cx="2514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Multiple styles; multi-paragraph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Varied titles; cross-topic refs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More overlap; still parameterized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28016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389888"/>
            <a:ext cx="2514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A9D8F"/>
                </a:solidFill>
                <a:latin typeface="Calibri"/>
              </a:rPr>
              <a:t>V3 — Richer narrative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920240"/>
            <a:ext cx="2514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More natural narrative flow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Greater wording diversity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Richer business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28016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53728" y="1389888"/>
            <a:ext cx="2514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A9D8F"/>
                </a:solidFill>
                <a:latin typeface="Calibri"/>
              </a:rPr>
              <a:t>V4 — Benchmark corpus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1920240"/>
            <a:ext cx="2514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Subtopics, orgs, 6 pub styles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Easy/Med/Hard + metadata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Primary-topic ID, not keywords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709160"/>
            <a:ext cx="11155680" cy="1417320"/>
          </a:xfrm>
          <a:prstGeom prst="roundRect">
            <a:avLst/>
          </a:prstGeom>
          <a:solidFill>
            <a:srgbClr val="E8F5F3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8006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2A4A"/>
                </a:solidFill>
                <a:latin typeface="Calibri"/>
              </a:rPr>
              <a:t>Key takeaways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1206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Progressively increased realism while keeping high-quality labels; topic kept separate from routing_label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Semantic overlap added to stress models (esp. future embeddings); V4 is the development benchmark before real labeled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6456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A4A"/>
                </a:solidFill>
                <a:latin typeface="Calibri"/>
              </a:rPr>
              <a:t>4b. Dataset V4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Calibri"/>
              </a:rPr>
              <a:t>200 articles · 10 topics · 70 target / 130 other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85929" y="1258976"/>
            <a:ext cx="2194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677369" y="1344168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2A4A"/>
                </a:solidFill>
                <a:latin typeface="Calibri"/>
              </a:rPr>
              <a:t>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7369" y="1892807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A5568"/>
                </a:solidFill>
                <a:latin typeface="Calibri"/>
              </a:rPr>
              <a:t>articles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63369" y="1252728"/>
            <a:ext cx="2194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4809" y="1344168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2A4A"/>
                </a:solidFill>
                <a:latin typeface="Calibr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54809" y="1892807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A5568"/>
                </a:solidFill>
                <a:latin typeface="Calibri"/>
              </a:rPr>
              <a:t>topics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40809" y="1252728"/>
            <a:ext cx="2194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32249" y="1892807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A5568"/>
                </a:solidFill>
                <a:latin typeface="Calibri"/>
              </a:rPr>
              <a:t>target / other</a:t>
            </a:r>
          </a:p>
        </p:txBody>
      </p:sp>
      <p:pic>
        <p:nvPicPr>
          <p:cNvPr id="15" name="Picture 14" descr="eda_c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929" y="2578608"/>
            <a:ext cx="702014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1039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518058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1B2A4A"/>
                </a:solidFill>
                <a:latin typeface="Calibri"/>
              </a:rPr>
              <a:t>4c. EDA — topic / subtopic structure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4E4FCD2-C95A-076E-E050-3C2ECED90B69}"/>
              </a:ext>
            </a:extLst>
          </p:cNvPr>
          <p:cNvGrpSpPr/>
          <p:nvPr/>
        </p:nvGrpSpPr>
        <p:grpSpPr>
          <a:xfrm>
            <a:off x="483789" y="1054779"/>
            <a:ext cx="11224115" cy="4353885"/>
            <a:chOff x="548640" y="748475"/>
            <a:chExt cx="11224115" cy="4353885"/>
          </a:xfrm>
        </p:grpSpPr>
        <p:pic>
          <p:nvPicPr>
            <p:cNvPr id="6" name="Picture 5" descr="eda_c6_0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8640" y="1179568"/>
              <a:ext cx="11224115" cy="3922792"/>
            </a:xfrm>
            <a:prstGeom prst="rect">
              <a:avLst/>
            </a:prstGeom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0CE7336-F052-1F79-7BEE-C9D4152284D2}"/>
                </a:ext>
              </a:extLst>
            </p:cNvPr>
            <p:cNvGrpSpPr/>
            <p:nvPr/>
          </p:nvGrpSpPr>
          <p:grpSpPr>
            <a:xfrm>
              <a:off x="2907660" y="748475"/>
              <a:ext cx="5956839" cy="2942017"/>
              <a:chOff x="2907660" y="748475"/>
              <a:chExt cx="5956839" cy="294201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ADD996C-44E7-0566-BBF1-1A0CAF0ADAB1}"/>
                  </a:ext>
                </a:extLst>
              </p:cNvPr>
              <p:cNvSpPr/>
              <p:nvPr/>
            </p:nvSpPr>
            <p:spPr>
              <a:xfrm>
                <a:off x="2907660" y="748475"/>
                <a:ext cx="776254" cy="2942017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lg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t"/>
              <a:lstStyle/>
              <a:p>
                <a:pPr algn="ctr"/>
                <a:r>
                  <a:rPr lang="en-US" sz="1200" dirty="0"/>
                  <a:t>Target</a:t>
                </a:r>
                <a:r>
                  <a:rPr lang="zh-CN" altLang="en-US" sz="1200" dirty="0"/>
                  <a:t> </a:t>
                </a:r>
                <a:r>
                  <a:rPr lang="en-US" altLang="zh-CN" sz="1200" dirty="0"/>
                  <a:t>topic</a:t>
                </a:r>
                <a:endParaRPr lang="en-US" sz="1200" dirty="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DDE6301-7440-E838-44CA-B1EC655E447C}"/>
                  </a:ext>
                </a:extLst>
              </p:cNvPr>
              <p:cNvSpPr/>
              <p:nvPr/>
            </p:nvSpPr>
            <p:spPr>
              <a:xfrm>
                <a:off x="8088245" y="748475"/>
                <a:ext cx="776254" cy="2942017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lg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t"/>
              <a:lstStyle/>
              <a:p>
                <a:pPr algn="ctr"/>
                <a:r>
                  <a:rPr lang="en-US" sz="1200" dirty="0"/>
                  <a:t>Target</a:t>
                </a:r>
                <a:r>
                  <a:rPr lang="zh-CN" altLang="en-US" sz="1200" dirty="0"/>
                  <a:t> </a:t>
                </a:r>
                <a:r>
                  <a:rPr lang="en-US" altLang="zh-CN" sz="1200" dirty="0"/>
                  <a:t>topic</a:t>
                </a:r>
                <a:endParaRPr lang="en-US" sz="1200" dirty="0"/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94489-7C0C-29FB-8B97-5F6B44D0A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0CC9AF-50B5-62F0-2986-9F2E8560E9F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6C8BCF-8370-F8F3-AB98-4ED97C2E6FAE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7190D-11E0-8F46-2F96-003D1DDEAD24}"/>
              </a:ext>
            </a:extLst>
          </p:cNvPr>
          <p:cNvSpPr txBox="1"/>
          <p:nvPr/>
        </p:nvSpPr>
        <p:spPr>
          <a:xfrm>
            <a:off x="548640" y="256032"/>
            <a:ext cx="259654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1B2A4A"/>
                </a:solidFill>
                <a:latin typeface="Calibri"/>
              </a:rPr>
              <a:t>4</a:t>
            </a:r>
            <a:r>
              <a:rPr lang="en-US" sz="2600" b="1" dirty="0">
                <a:solidFill>
                  <a:srgbClr val="1B2A4A"/>
                </a:solidFill>
                <a:latin typeface="Calibri"/>
              </a:rPr>
              <a:t>d</a:t>
            </a:r>
            <a:r>
              <a:rPr sz="2600" b="1" dirty="0">
                <a:solidFill>
                  <a:srgbClr val="1B2A4A"/>
                </a:solidFill>
                <a:latin typeface="Calibri"/>
              </a:rPr>
              <a:t>. EDA — </a:t>
            </a:r>
            <a:r>
              <a:rPr lang="en-US" sz="2600" b="1" dirty="0">
                <a:solidFill>
                  <a:srgbClr val="1B2A4A"/>
                </a:solidFill>
                <a:latin typeface="Calibri"/>
              </a:rPr>
              <a:t>length</a:t>
            </a:r>
            <a:endParaRPr sz="2600" b="1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7" name="Picture 6" descr="eda_c7_0.png">
            <a:extLst>
              <a:ext uri="{FF2B5EF4-FFF2-40B4-BE49-F238E27FC236}">
                <a16:creationId xmlns:a16="http://schemas.microsoft.com/office/drawing/2014/main" id="{094747C9-C2FB-23E5-E0E4-46DD24038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237323"/>
            <a:ext cx="11205681" cy="395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192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1038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A4A"/>
                </a:solidFill>
                <a:latin typeface="Calibri"/>
              </a:rPr>
              <a:t>5. ML task (v0) — minimal PoC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Calibri"/>
              </a:rPr>
              <a:t>Fixed TF-IDF + LR · stratified split · threshold 0.5 · no tuning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377440"/>
            <a:ext cx="1554480" cy="1051560"/>
          </a:xfrm>
          <a:prstGeom prst="roundRect">
            <a:avLst/>
          </a:prstGeom>
          <a:solidFill>
            <a:srgbClr val="E8F5F3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1B2A4A"/>
                </a:solidFill>
                <a:latin typeface="Calibri"/>
              </a:rPr>
              <a:t>Load </a:t>
            </a:r>
            <a:r>
              <a:rPr lang="en-US" sz="1100" b="1" dirty="0">
                <a:solidFill>
                  <a:srgbClr val="1B2A4A"/>
                </a:solidFill>
                <a:latin typeface="Calibri"/>
              </a:rPr>
              <a:t>Synthetic Data</a:t>
            </a:r>
            <a:r>
              <a:rPr sz="1100" b="1" dirty="0">
                <a:solidFill>
                  <a:srgbClr val="1B2A4A"/>
                </a:solidFill>
                <a:latin typeface="Calibri"/>
              </a:rPr>
              <a:t>
CSV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984248" y="2761488"/>
            <a:ext cx="292608" cy="256032"/>
          </a:xfrm>
          <a:prstGeom prst="right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313432" y="2377440"/>
            <a:ext cx="1554480" cy="1051560"/>
          </a:xfrm>
          <a:prstGeom prst="roundRect">
            <a:avLst/>
          </a:prstGeom>
          <a:solidFill>
            <a:srgbClr val="E8F5F3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B2A4A"/>
                </a:solidFill>
                <a:latin typeface="Calibri"/>
              </a:rPr>
              <a:t>Map y
target=1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86200" y="2761488"/>
            <a:ext cx="292608" cy="256032"/>
          </a:xfrm>
          <a:prstGeom prst="right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15384" y="2377440"/>
            <a:ext cx="1554480" cy="1051560"/>
          </a:xfrm>
          <a:prstGeom prst="roundRect">
            <a:avLst/>
          </a:prstGeom>
          <a:solidFill>
            <a:srgbClr val="E8F5F3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B2A4A"/>
                </a:solidFill>
                <a:latin typeface="Calibri"/>
              </a:rPr>
              <a:t>Stratified
80/20 split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788152" y="2761488"/>
            <a:ext cx="292608" cy="256032"/>
          </a:xfrm>
          <a:prstGeom prst="right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17336" y="2377440"/>
            <a:ext cx="1554480" cy="1051560"/>
          </a:xfrm>
          <a:prstGeom prst="roundRect">
            <a:avLst/>
          </a:prstGeom>
          <a:solidFill>
            <a:srgbClr val="E8F5F3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B2A4A"/>
                </a:solidFill>
                <a:latin typeface="Calibri"/>
              </a:rPr>
              <a:t>Fit TF-IDF
+ LR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90104" y="2761488"/>
            <a:ext cx="292608" cy="256032"/>
          </a:xfrm>
          <a:prstGeom prst="right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19288" y="2377440"/>
            <a:ext cx="1554480" cy="1051560"/>
          </a:xfrm>
          <a:prstGeom prst="roundRect">
            <a:avLst/>
          </a:prstGeom>
          <a:solidFill>
            <a:srgbClr val="E8F5F3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B2A4A"/>
                </a:solidFill>
                <a:latin typeface="Calibri"/>
              </a:rPr>
              <a:t>Score test
@ 0.5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592056" y="2761488"/>
            <a:ext cx="292608" cy="256032"/>
          </a:xfrm>
          <a:prstGeom prst="right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921240" y="2377440"/>
            <a:ext cx="1554480" cy="1051560"/>
          </a:xfrm>
          <a:prstGeom prst="roundRect">
            <a:avLst/>
          </a:prstGeom>
          <a:solidFill>
            <a:srgbClr val="E8F5F3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B2A4A"/>
                </a:solidFill>
                <a:latin typeface="Calibri"/>
              </a:rPr>
              <a:t>Baselines +
coefs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40480"/>
            <a:ext cx="1051560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500" b="0" dirty="0">
                <a:solidFill>
                  <a:srgbClr val="1A1A1A"/>
                </a:solidFill>
                <a:latin typeface="Calibri"/>
              </a:rPr>
              <a:t>Input: </a:t>
            </a:r>
            <a:r>
              <a:rPr sz="1500" b="0" dirty="0" err="1">
                <a:solidFill>
                  <a:srgbClr val="1A1A1A"/>
                </a:solidFill>
                <a:latin typeface="Calibri"/>
              </a:rPr>
              <a:t>article_text</a:t>
            </a:r>
            <a:endParaRPr lang="en-US" sz="1500" dirty="0">
              <a:solidFill>
                <a:srgbClr val="1A1A1A"/>
              </a:solidFill>
              <a:latin typeface="Calibri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500" b="0" dirty="0">
                <a:solidFill>
                  <a:srgbClr val="1A1A1A"/>
                </a:solidFill>
                <a:latin typeface="Calibri"/>
              </a:rPr>
              <a:t>Output: target vs other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500" b="0" dirty="0">
                <a:solidFill>
                  <a:srgbClr val="1A1A1A"/>
                </a:solidFill>
                <a:latin typeface="Calibri"/>
              </a:rPr>
              <a:t>Success bar for this PoC: </a:t>
            </a:r>
            <a:endParaRPr lang="en-US" sz="1500" dirty="0">
              <a:solidFill>
                <a:srgbClr val="1A1A1A"/>
              </a:solidFill>
              <a:latin typeface="Calibri"/>
            </a:endParaRP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500" b="0" dirty="0">
                <a:solidFill>
                  <a:srgbClr val="1A1A1A"/>
                </a:solidFill>
                <a:latin typeface="Calibri"/>
              </a:rPr>
              <a:t>beat label-only baselines on the same test set</a:t>
            </a:r>
            <a:endParaRPr lang="en-US" sz="1500" b="0" dirty="0">
              <a:solidFill>
                <a:srgbClr val="1A1A1A"/>
              </a:solidFill>
              <a:latin typeface="Calibri"/>
            </a:endParaRP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500" b="0" dirty="0">
                <a:solidFill>
                  <a:srgbClr val="1A1A1A"/>
                </a:solidFill>
                <a:latin typeface="Calibri"/>
              </a:rPr>
              <a:t>sensible coefficients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4329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1B2A4A"/>
                </a:solidFill>
                <a:latin typeface="Calibri"/>
              </a:rPr>
              <a:t>6a. v0 model results @ threshold 0.5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969202"/>
              </p:ext>
            </p:extLst>
          </p:nvPr>
        </p:nvGraphicFramePr>
        <p:xfrm>
          <a:off x="548640" y="1234440"/>
          <a:ext cx="5888445" cy="1284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7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7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7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76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7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82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107063" marR="107063" marT="53531" marB="53531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107063" marR="107063" marT="53531" marB="53531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107063" marR="107063" marT="53531" marB="53531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107063" marR="107063" marT="53531" marB="53531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support</a:t>
                      </a:r>
                    </a:p>
                  </a:txBody>
                  <a:tcPr marL="107063" marR="107063" marT="53531" marB="53531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2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marL="107063" marR="107063" marT="53531" marB="5353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marL="107063" marR="107063" marT="53531" marB="5353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0.69</a:t>
                      </a:r>
                    </a:p>
                  </a:txBody>
                  <a:tcPr marL="107063" marR="107063" marT="53531" marB="5353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Calibri"/>
                        </a:rPr>
                        <a:t>0.72</a:t>
                      </a:r>
                    </a:p>
                  </a:txBody>
                  <a:tcPr marL="107063" marR="107063" marT="53531" marB="5353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107063" marR="107063" marT="53531" marB="53531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2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107063" marR="107063" marT="53531" marB="53531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marL="107063" marR="107063" marT="53531" marB="53531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0.57</a:t>
                      </a:r>
                    </a:p>
                  </a:txBody>
                  <a:tcPr marL="107063" marR="107063" marT="53531" marB="53531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0.53</a:t>
                      </a:r>
                    </a:p>
                  </a:txBody>
                  <a:tcPr marL="107063" marR="107063" marT="53531" marB="53531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107063" marR="107063" marT="53531" marB="53531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Picture 6" descr="v0_c1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690" y="3216808"/>
            <a:ext cx="10713132" cy="30408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14159" y="1234440"/>
            <a:ext cx="53454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sz="1400" b="0" dirty="0">
                <a:solidFill>
                  <a:srgbClr val="1A1A1A"/>
                </a:solidFill>
                <a:latin typeface="Calibri"/>
              </a:rPr>
              <a:t>Accuracy = 0.65</a:t>
            </a:r>
            <a:r>
              <a:rPr lang="en-US" sz="1400" dirty="0">
                <a:solidFill>
                  <a:srgbClr val="1A1A1A"/>
                </a:solidFill>
                <a:latin typeface="Calibri"/>
              </a:rPr>
              <a:t> (</a:t>
            </a:r>
            <a:r>
              <a:rPr sz="1400" b="0" dirty="0">
                <a:solidFill>
                  <a:srgbClr val="1A1A1A"/>
                </a:solidFill>
                <a:latin typeface="Calibri"/>
              </a:rPr>
              <a:t>Accuracy alone is easy to misread under imbalance</a:t>
            </a:r>
            <a:r>
              <a:rPr lang="en-US" sz="1400" b="0" dirty="0">
                <a:solidFill>
                  <a:srgbClr val="1A1A1A"/>
                </a:solidFill>
                <a:latin typeface="Calibri"/>
              </a:rPr>
              <a:t>)</a:t>
            </a:r>
            <a:r>
              <a:rPr sz="1400" b="0" dirty="0">
                <a:solidFill>
                  <a:srgbClr val="1A1A1A"/>
                </a:solidFill>
                <a:latin typeface="Calibri"/>
              </a:rPr>
              <a:t> </a:t>
            </a:r>
            <a:endParaRPr lang="en-US" sz="1400" b="0" dirty="0">
              <a:solidFill>
                <a:srgbClr val="1A1A1A"/>
              </a:solidFill>
              <a:latin typeface="Calibri"/>
            </a:endParaRPr>
          </a:p>
          <a:p>
            <a:pPr fontAlgn="t"/>
            <a:r>
              <a:rPr lang="en-US" sz="1400" dirty="0">
                <a:solidFill>
                  <a:srgbClr val="1A1A1A"/>
                </a:solidFill>
                <a:latin typeface="Calibri"/>
              </a:rPr>
              <a:t>N</a:t>
            </a:r>
            <a:r>
              <a:rPr sz="1400" b="0" dirty="0">
                <a:solidFill>
                  <a:srgbClr val="1A1A1A"/>
                </a:solidFill>
                <a:latin typeface="Calibri"/>
              </a:rPr>
              <a:t>ext slide compares against label-only baselines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1039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A4A"/>
                </a:solidFill>
                <a:latin typeface="Calibri"/>
              </a:rPr>
              <a:t>6b. Better than chance? — vs label-only baselines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728609"/>
              </p:ext>
            </p:extLst>
          </p:nvPr>
        </p:nvGraphicFramePr>
        <p:xfrm>
          <a:off x="548640" y="698778"/>
          <a:ext cx="10765582" cy="192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7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7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7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7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7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79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79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511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87525" marR="87525" marT="43763" marB="43763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87525" marR="87525" marT="43763" marB="43763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87525" marR="87525" marT="43763" marB="43763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87525" marR="87525" marT="43763" marB="43763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87525" marR="87525" marT="43763" marB="43763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roc_auc</a:t>
                      </a:r>
                    </a:p>
                  </a:txBody>
                  <a:tcPr marL="87525" marR="87525" marT="43763" marB="43763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pr_auc</a:t>
                      </a:r>
                    </a:p>
                  </a:txBody>
                  <a:tcPr marL="87525" marR="87525" marT="43763" marB="43763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1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TF-IDF + LR</a:t>
                      </a:r>
                    </a:p>
                  </a:txBody>
                  <a:tcPr marL="87525" marR="87525" marT="43763" marB="43763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0.650</a:t>
                      </a:r>
                    </a:p>
                  </a:txBody>
                  <a:tcPr marL="87525" marR="87525" marT="43763" marB="43763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 marL="87525" marR="87525" marT="43763" marB="43763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0.571</a:t>
                      </a:r>
                    </a:p>
                  </a:txBody>
                  <a:tcPr marL="87525" marR="87525" marT="43763" marB="43763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0.533</a:t>
                      </a:r>
                    </a:p>
                  </a:txBody>
                  <a:tcPr marL="87525" marR="87525" marT="43763" marB="43763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0.772</a:t>
                      </a:r>
                    </a:p>
                  </a:txBody>
                  <a:tcPr marL="87525" marR="87525" marT="43763" marB="43763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0.720</a:t>
                      </a:r>
                    </a:p>
                  </a:txBody>
                  <a:tcPr marL="87525" marR="87525" marT="43763" marB="43763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10"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1A1A1A"/>
                          </a:solidFill>
                          <a:latin typeface="Calibri"/>
                        </a:rPr>
                        <a:t>Always majority class</a:t>
                      </a:r>
                    </a:p>
                  </a:txBody>
                  <a:tcPr marL="87525" marR="87525" marT="43763" marB="43763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0.650</a:t>
                      </a:r>
                    </a:p>
                  </a:txBody>
                  <a:tcPr marL="87525" marR="87525" marT="43763" marB="43763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87525" marR="87525" marT="43763" marB="43763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87525" marR="87525" marT="43763" marB="43763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87525" marR="87525" marT="43763" marB="43763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1A1A1A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 marL="87525" marR="87525" marT="43763" marB="43763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0.350</a:t>
                      </a:r>
                    </a:p>
                  </a:txBody>
                  <a:tcPr marL="87525" marR="87525" marT="43763" marB="43763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10"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1A1A1A"/>
                          </a:solidFill>
                          <a:latin typeface="Calibri"/>
                        </a:rPr>
                        <a:t>Random w/ train rates</a:t>
                      </a:r>
                    </a:p>
                  </a:txBody>
                  <a:tcPr marL="87525" marR="87525" marT="43763" marB="43763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0.525</a:t>
                      </a:r>
                    </a:p>
                  </a:txBody>
                  <a:tcPr marL="87525" marR="87525" marT="43763" marB="43763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0.273</a:t>
                      </a:r>
                    </a:p>
                  </a:txBody>
                  <a:tcPr marL="87525" marR="87525" marT="43763" marB="43763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0.214</a:t>
                      </a:r>
                    </a:p>
                  </a:txBody>
                  <a:tcPr marL="87525" marR="87525" marT="43763" marB="43763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0.240</a:t>
                      </a:r>
                    </a:p>
                  </a:txBody>
                  <a:tcPr marL="87525" marR="87525" marT="43763" marB="43763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0.453</a:t>
                      </a:r>
                    </a:p>
                  </a:txBody>
                  <a:tcPr marL="87525" marR="87525" marT="43763" marB="43763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0.333</a:t>
                      </a:r>
                    </a:p>
                  </a:txBody>
                  <a:tcPr marL="87525" marR="87525" marT="43763" marB="43763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10"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1A1A1A"/>
                          </a:solidFill>
                          <a:latin typeface="Calibri"/>
                        </a:rPr>
                        <a:t>Coin flip 50/50</a:t>
                      </a:r>
                    </a:p>
                  </a:txBody>
                  <a:tcPr marL="87525" marR="87525" marT="43763" marB="43763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1A1A1A"/>
                          </a:solidFill>
                          <a:latin typeface="Calibri"/>
                        </a:rPr>
                        <a:t>0.450</a:t>
                      </a:r>
                    </a:p>
                  </a:txBody>
                  <a:tcPr marL="87525" marR="87525" marT="43763" marB="43763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0.300</a:t>
                      </a:r>
                    </a:p>
                  </a:txBody>
                  <a:tcPr marL="87525" marR="87525" marT="43763" marB="43763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0.429</a:t>
                      </a:r>
                    </a:p>
                  </a:txBody>
                  <a:tcPr marL="87525" marR="87525" marT="43763" marB="43763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0.353</a:t>
                      </a:r>
                    </a:p>
                  </a:txBody>
                  <a:tcPr marL="87525" marR="87525" marT="43763" marB="43763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 marL="87525" marR="87525" marT="43763" marB="43763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1A1A1A"/>
                          </a:solidFill>
                          <a:latin typeface="Calibri"/>
                        </a:rPr>
                        <a:t>0.350</a:t>
                      </a:r>
                    </a:p>
                  </a:txBody>
                  <a:tcPr marL="87525" marR="87525" marT="43763" marB="43763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6" descr="v0_c13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224" y="2727474"/>
            <a:ext cx="8927812" cy="402079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A4A"/>
                </a:solidFill>
                <a:latin typeface="Calibri"/>
              </a:rPr>
              <a:t>7. What did the model learn?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327474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dirty="0">
                <a:solidFill>
                  <a:srgbClr val="4A5568"/>
                </a:solidFill>
                <a:latin typeface="Calibri"/>
              </a:rPr>
              <a:t>Global TF-IDF × LR coefficients (</a:t>
            </a:r>
            <a:r>
              <a:rPr lang="en-US" sz="1300" b="0" dirty="0">
                <a:solidFill>
                  <a:srgbClr val="4A5568"/>
                </a:solidFill>
                <a:latin typeface="Calibri"/>
              </a:rPr>
              <a:t>explainability</a:t>
            </a:r>
            <a:r>
              <a:rPr sz="1300" b="0" dirty="0">
                <a:solidFill>
                  <a:srgbClr val="4A5568"/>
                </a:solidFill>
                <a:latin typeface="Calibri"/>
              </a:rPr>
              <a:t>)</a:t>
            </a:r>
          </a:p>
        </p:txBody>
      </p:sp>
      <p:pic>
        <p:nvPicPr>
          <p:cNvPr id="6" name="Picture 5" descr="v0_c1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69" y="1042196"/>
            <a:ext cx="10515600" cy="52356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0469" y="6330297"/>
            <a:ext cx="73453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dirty="0">
                <a:solidFill>
                  <a:srgbClr val="4A5568"/>
                </a:solidFill>
                <a:latin typeface="Calibri"/>
              </a:rPr>
              <a:t>Target side leans on cloud/telecom language; other side on non-target domains — consistent with the routing rule.</a:t>
            </a:r>
            <a:endParaRPr lang="en-US" sz="1200" b="0" dirty="0">
              <a:solidFill>
                <a:srgbClr val="4A556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A4A"/>
                </a:solidFill>
                <a:latin typeface="Calibri"/>
              </a:rPr>
              <a:t>8a. Next steps — improve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Calibri"/>
              </a:rPr>
              <a:t>Synthetic scale-up + real knowledge corpus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54864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63640" y="1234440"/>
            <a:ext cx="53949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A9D8F"/>
                </a:solidFill>
                <a:latin typeface="Calibri"/>
              </a:rPr>
              <a:t>(1) Synthetic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Scale beyond 200; raise medium/hard share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Refine taxonomy with feedback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Check generator-template leakage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Optional BoW preprocessing (lemma/stopwords) via CV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A9D8F"/>
                </a:solidFill>
                <a:latin typeface="Calibri"/>
              </a:rPr>
              <a:t>(2) Real knowledge corpus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937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Reach out to [Colleague Name] for real articles / SME corpus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Align routing definitions &amp; labeling guidelines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Small gold set; stress-test synth → real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This is how we deepen true domain understanding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1039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A4A"/>
                </a:solidFill>
                <a:latin typeface="Calibri"/>
              </a:rPr>
              <a:t>8b. Next steps — improve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53212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4864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A9D8F"/>
                </a:solidFill>
                <a:latin typeface="Calibri"/>
              </a:rPr>
              <a:t>Build stronger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5166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1. Representations: embed text with a pretrained model, then train a small linear (or MLP) classifier head — keep the embedder frozen at first</a:t>
            </a:r>
          </a:p>
          <a:p>
            <a:pPr lvl="1">
              <a:spcAft>
                <a:spcPts val="4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Meanwhile on BoW/TF-IDF (current path): try lemma/stopwords, char n-grams, SVD via CV until embeddings replace it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2. Features: add title + selected metadata (leakage checks); combine with text features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3. Models: compare several classifiers + hyperparameter tuning; refine grids from CV diagnostics (train only)</a:t>
            </a:r>
          </a:p>
          <a:p>
            <a:pPr lvl="1">
              <a:spcAft>
                <a:spcPts val="4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Stacking only when data supports a clean meta-holdout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A9D8F"/>
                </a:solidFill>
                <a:latin typeface="Calibri"/>
              </a:rPr>
              <a:t>Decide, evaluate, explain, 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4. Decisioning: tune thresholds / abstain bands on train only; calibrate probabilities so P(target) matches real frequencies (needed for trustworthy confidence-based routing)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5. Evaluation: score by subgroup (topic/length/difficulty); learning curves (does more data help?); nested CV when tuning (avoids overly optimistic scores); cost-sensitive metrics if FP/FN costs differ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6. Explainability &amp; errors: richer local explanations; build a named catalog of failure modes (e.g. cross-topic bleed, short text, label ambiguity) from FP/FN reviews to drive data and feature fixes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7. Productization: versioned model artifacts; batch/API inference; monitor score &amp; abstain-rate drift; human-in-the-loop on abstains (uncertain cases go to people for labeling → feed back into training)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A5568"/>
                </a:solidFill>
                <a:latin typeface="Calibri"/>
              </a:rPr>
              <a:t>Model roadmap after v0 (data track is on 8a)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B2A4A"/>
                </a:solidFill>
                <a:latin typeface="Calibri"/>
              </a:rPr>
              <a:t>Update 2 — ML v1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4A5568"/>
                </a:solidFill>
                <a:latin typeface="Calibri"/>
              </a:rPr>
              <a:t>Cross-validation, tuning, confidence banding, richer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A9D8F"/>
                </a:solidFill>
                <a:latin typeface="Calibri"/>
              </a:rPr>
              <a:t>07/28/2026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A5568"/>
                </a:solidFill>
                <a:latin typeface="Calibri"/>
              </a:rPr>
              <a:t>Appended to the v0 progress readout — same V4 data; stronger methodology on the classifier side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A4A"/>
                </a:solidFill>
                <a:latin typeface="Calibri"/>
              </a:rPr>
              <a:t>What v1 adds vs v0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Calibri"/>
              </a:rPr>
              <a:t>Same task &amp; data — more rigorous ML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486400" cy="4663440"/>
          </a:xfrm>
          <a:prstGeom prst="roundRect">
            <a:avLst/>
          </a:prstGeom>
          <a:solidFill>
            <a:srgbClr val="E8F5F3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63640" y="1280160"/>
            <a:ext cx="53949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A9D8F"/>
                </a:solidFill>
                <a:latin typeface="Calibri"/>
              </a:rPr>
              <a:t>Still true from v0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Input: article_text → target vs other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V4 synthetic corpus; stratified 80/20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TF-IDF + Logistic Regression family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Default operating point remains 0.5 for headline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4173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A9D8F"/>
                </a:solidFill>
                <a:latin typeface="Calibri"/>
              </a:rPr>
              <a:t>New in v1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937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Stratified 5-fold GridSearchCV on train (optimize F1)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CV diagnostics (ranked configs)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Layer A threshold analytics (explored, not adopted)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Layer B abstain band (illustrative confidence routing)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Stronger held-out metrics after tuning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A4A"/>
                </a:solidFill>
                <a:latin typeface="Calibri"/>
              </a:rPr>
              <a:t>v1 training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Calibri"/>
              </a:rPr>
              <a:t>What we added on top of v0 — and why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34440"/>
            <a:ext cx="1600200" cy="1234440"/>
          </a:xfrm>
          <a:prstGeom prst="roundRect">
            <a:avLst/>
          </a:prstGeom>
          <a:solidFill>
            <a:srgbClr val="E8F5F3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B2A4A"/>
                </a:solidFill>
                <a:latin typeface="Calibri"/>
              </a:rPr>
              <a:t>Train
texts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920240" y="1737360"/>
            <a:ext cx="292608" cy="237744"/>
          </a:xfrm>
          <a:prstGeom prst="right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176272" y="1234440"/>
            <a:ext cx="1600200" cy="1234440"/>
          </a:xfrm>
          <a:prstGeom prst="roundRect">
            <a:avLst/>
          </a:prstGeom>
          <a:solidFill>
            <a:srgbClr val="E8F5F3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B2A4A"/>
                </a:solidFill>
                <a:latin typeface="Calibri"/>
              </a:rPr>
              <a:t>TF-IDF
vectorizer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76472" y="1737360"/>
            <a:ext cx="292608" cy="237744"/>
          </a:xfrm>
          <a:prstGeom prst="right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032504" y="1234440"/>
            <a:ext cx="1600200" cy="1234440"/>
          </a:xfrm>
          <a:prstGeom prst="roundRect">
            <a:avLst/>
          </a:prstGeom>
          <a:solidFill>
            <a:srgbClr val="E8F5F3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B2A4A"/>
                </a:solidFill>
                <a:latin typeface="Calibri"/>
              </a:rPr>
              <a:t>LogReg
classifier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632704" y="1737360"/>
            <a:ext cx="292608" cy="237744"/>
          </a:xfrm>
          <a:prstGeom prst="right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888736" y="1234440"/>
            <a:ext cx="1600200" cy="1234440"/>
          </a:xfrm>
          <a:prstGeom prst="roundRect">
            <a:avLst/>
          </a:prstGeom>
          <a:solidFill>
            <a:srgbClr val="E8F5F3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B2A4A"/>
                </a:solidFill>
                <a:latin typeface="Calibri"/>
              </a:rPr>
              <a:t>GridSearch
+ Stratified
5-fold CV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488936" y="1737360"/>
            <a:ext cx="292608" cy="237744"/>
          </a:xfrm>
          <a:prstGeom prst="right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744968" y="1234440"/>
            <a:ext cx="1600200" cy="1234440"/>
          </a:xfrm>
          <a:prstGeom prst="roundRect">
            <a:avLst/>
          </a:prstGeom>
          <a:solidFill>
            <a:srgbClr val="E8F5F3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B2A4A"/>
                </a:solidFill>
                <a:latin typeface="Calibri"/>
              </a:rPr>
              <a:t>Best params
refit on
full train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345168" y="1737360"/>
            <a:ext cx="292608" cy="237744"/>
          </a:xfrm>
          <a:prstGeom prst="right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601200" y="1234440"/>
            <a:ext cx="1600200" cy="1234440"/>
          </a:xfrm>
          <a:prstGeom prst="roundRect">
            <a:avLst/>
          </a:prstGeom>
          <a:solidFill>
            <a:srgbClr val="E8F5F3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B2A4A"/>
                </a:solidFill>
                <a:latin typeface="Calibri"/>
              </a:rPr>
              <a:t>Evaluate
once on
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606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A5568"/>
                </a:solidFill>
                <a:latin typeface="Calibri"/>
              </a:rPr>
              <a:t>GridSearch wraps TF-IDF + LogReg as one Pipeline so vectorizer stats never leak across CV folds.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31089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What's new vs v0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Purpose / benefit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Pipeline(TF-IDF → LogReg) inside GridSearchCV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Tunes features + model together without test leakage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Stratified 5-fold CV on train (score = F1)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Stable selection under class imbalance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Hyperparameter grid (C, n-grams, min_df, max_features)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Find a stronger config than fixed v0 defaults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Refit best estimator on full train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Use all labeled train data after selection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Hold out test for final report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Honest estimate of generalization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A4A"/>
                </a:solidFill>
                <a:latin typeface="Calibri"/>
              </a:rPr>
              <a:t>Hyperparameter search (train CV)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Calibri"/>
              </a:rPr>
              <a:t>36 configs × 5 folds · scoring = F1 · refit best on full train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008806"/>
              </p:ext>
            </p:extLst>
          </p:nvPr>
        </p:nvGraphicFramePr>
        <p:xfrm>
          <a:off x="2536466" y="1167336"/>
          <a:ext cx="6229050" cy="2577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4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59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107397" marR="107397" marT="53699" marB="53699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107397" marR="107397" marT="53699" marB="53699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590"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Calibri"/>
                        </a:rPr>
                        <a:t>Best CV F1</a:t>
                      </a:r>
                    </a:p>
                  </a:txBody>
                  <a:tcPr marL="107397" marR="107397" marT="53699" marB="5369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0.655</a:t>
                      </a:r>
                    </a:p>
                  </a:txBody>
                  <a:tcPr marL="107397" marR="107397" marT="53699" marB="53699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59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clf__C</a:t>
                      </a:r>
                    </a:p>
                  </a:txBody>
                  <a:tcPr marL="107397" marR="107397" marT="53699" marB="53699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Calibri"/>
                        </a:rPr>
                        <a:t>10.0</a:t>
                      </a:r>
                    </a:p>
                  </a:txBody>
                  <a:tcPr marL="107397" marR="107397" marT="53699" marB="53699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59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tfidf__ngram_range</a:t>
                      </a:r>
                    </a:p>
                  </a:txBody>
                  <a:tcPr marL="107397" marR="107397" marT="53699" marB="5369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Calibri"/>
                        </a:rPr>
                        <a:t>(1, 1)</a:t>
                      </a:r>
                    </a:p>
                  </a:txBody>
                  <a:tcPr marL="107397" marR="107397" marT="53699" marB="53699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59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tfidf__min_df</a:t>
                      </a:r>
                    </a:p>
                  </a:txBody>
                  <a:tcPr marL="107397" marR="107397" marT="53699" marB="53699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7397" marR="107397" marT="53699" marB="53699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59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tfidf__max_features</a:t>
                      </a:r>
                    </a:p>
                  </a:txBody>
                  <a:tcPr marL="107397" marR="107397" marT="53699" marB="5369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Calibri"/>
                        </a:rPr>
                        <a:t>5000</a:t>
                      </a:r>
                    </a:p>
                  </a:txBody>
                  <a:tcPr marL="107397" marR="107397" marT="53699" marB="53699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765516" y="2171412"/>
            <a:ext cx="280681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dirty="0">
                <a:solidFill>
                  <a:srgbClr val="1A1A1A"/>
                </a:solidFill>
                <a:latin typeface="Calibri"/>
              </a:rPr>
              <a:t>Search stays on train only;</a:t>
            </a:r>
            <a:endParaRPr lang="en-US" sz="1600" b="0" dirty="0">
              <a:solidFill>
                <a:srgbClr val="1A1A1A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600" b="0" dirty="0">
                <a:solidFill>
                  <a:srgbClr val="1A1A1A"/>
                </a:solidFill>
                <a:latin typeface="Calibri"/>
              </a:rPr>
              <a:t> test used once late</a:t>
            </a:r>
          </a:p>
        </p:txBody>
      </p:sp>
      <p:pic>
        <p:nvPicPr>
          <p:cNvPr id="8" name="Picture 7" descr="v1_c1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082" y="4153261"/>
            <a:ext cx="6248434" cy="24639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D82D21-603C-9678-C12E-97CB5D3514DD}"/>
              </a:ext>
            </a:extLst>
          </p:cNvPr>
          <p:cNvSpPr txBox="1"/>
          <p:nvPr/>
        </p:nvSpPr>
        <p:spPr>
          <a:xfrm>
            <a:off x="4969565" y="3796645"/>
            <a:ext cx="1858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A1A1A"/>
                </a:solidFill>
              </a:rPr>
              <a:t>ranked CV plot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A4A"/>
                </a:solidFill>
                <a:latin typeface="Calibri"/>
              </a:rPr>
              <a:t>Two evaluation layers (before results)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Calibri"/>
              </a:rPr>
              <a:t>Why v1 separates model quality from confidence routing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532120" cy="3291840"/>
          </a:xfrm>
          <a:prstGeom prst="roundRect">
            <a:avLst/>
          </a:prstGeom>
          <a:solidFill>
            <a:srgbClr val="E8F5F3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4406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166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A9D8F"/>
                </a:solidFill>
                <a:latin typeface="Calibri"/>
              </a:rPr>
              <a:t>Layer A — always predict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5166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Every test row gets Target or Other (default @ 0.5)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Answers: is the classifier any good?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Report: class P/R/F1, confusion matrix, ROC / PR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Threshold analytics (F1/Youden/top-left) are diagnostics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A9D8F"/>
                </a:solidFill>
                <a:latin typeface="Calibri"/>
              </a:rPr>
              <a:t>Layer B — abstain band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5074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Only auto-route when P(target) is clearly high or low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Middle band → abstain / human review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Answers: if we require confidence, what's coverage vs quality?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Metrics computed on auto-routed rows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091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Why explore both: a strong Layer A model can still be wrong on borderline scores — Layer B shows the ops tradeoff (precision/coverage) without changing the headline @0.5 report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In this update the abstain band is illustrative (not yet tuned on train/val)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A4A"/>
                </a:solidFill>
                <a:latin typeface="Calibri"/>
              </a:rPr>
              <a:t>Layer A results @ 0.5 (tuned model)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dirty="0">
                <a:solidFill>
                  <a:srgbClr val="4A5568"/>
                </a:solidFill>
                <a:latin typeface="Calibri"/>
              </a:rPr>
              <a:t>Always predict · headline quality metrics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34440"/>
          <a:ext cx="58521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support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0.86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0" y="1234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B2A4A"/>
                </a:solidFill>
                <a:latin typeface="Calibri"/>
              </a:rPr>
              <a:t>Accuracy = 0.85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4A5568"/>
                </a:solidFill>
                <a:latin typeface="Calibri"/>
              </a:rPr>
              <a:t>(easy to misread under imbalance — use with F1 / curves)</a:t>
            </a:r>
          </a:p>
          <a:p>
            <a:pPr>
              <a:spcAft>
                <a:spcPts val="200"/>
              </a:spcAft>
            </a:pPr>
            <a:endParaRPr sz="1300" b="0">
              <a:solidFill>
                <a:srgbClr val="4A5568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B2A4A"/>
                </a:solidFill>
                <a:latin typeface="Calibri"/>
              </a:rPr>
              <a:t>ROC-AUC = 0.945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B2A4A"/>
                </a:solidFill>
                <a:latin typeface="Calibri"/>
              </a:rPr>
              <a:t>PR-AUC = 0.911</a:t>
            </a:r>
          </a:p>
          <a:p>
            <a:pPr>
              <a:spcAft>
                <a:spcPts val="200"/>
              </a:spcAft>
            </a:pPr>
            <a:endParaRPr sz="1500" b="1">
              <a:solidFill>
                <a:srgbClr val="1B2A4A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4A5568"/>
                </a:solidFill>
                <a:latin typeface="Calibri"/>
              </a:rPr>
              <a:t>vs v0 fixed defaults: F1 ~0.53 → 0.80; ROC ~0.77 → 0.95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16964"/>
            <a:ext cx="11238077" cy="318984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1B2A4A"/>
                </a:solidFill>
                <a:latin typeface="Calibri"/>
              </a:rPr>
              <a:t>v0 vs v1 vs label-only baselines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260106"/>
              </p:ext>
            </p:extLst>
          </p:nvPr>
        </p:nvGraphicFramePr>
        <p:xfrm>
          <a:off x="274320" y="758952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32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roc_auc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pr_auc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v0 TF-IDF+LR (fixed)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0.571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0.533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0.772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v1 TF-IDF+LR (tuned)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0.850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0.750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0.857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0.800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0.945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0.911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Always majority 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1A1A1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Random w/ train rates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0.525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0.273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0.214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0.240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0.453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0.333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Coin flip 50/50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0.429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0.353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1A1A1A"/>
                          </a:solidFill>
                          <a:latin typeface="Calibri"/>
                        </a:rPr>
                        <a:t>0.350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Picture 6" descr="v0_v1_baseline_c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606" y="3127891"/>
            <a:ext cx="8883747" cy="364716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A4A"/>
                </a:solidFill>
                <a:latin typeface="Calibri"/>
              </a:rPr>
              <a:t>Threshold analytics (not a production change)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Calibri"/>
              </a:rPr>
              <a:t>Explored on train; headline default stays 0.5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280160"/>
          <a:ext cx="107899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threshold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test precision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test recall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test f1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(1) default 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default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0.857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(2) train F1 sweep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0.440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analytics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0.667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0.800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(3) Youden 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0.496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0.857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(4) closest top-left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0.496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analytics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0.750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0.857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0.800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38404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F1 sweep / Youden / top-left are diagnostics — they can change precision/recall tradeoffs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We do not pick the cutoff from test; default Layer A report remains @ 0.5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Proper threshold tuning (train/val or nested CV) stays on the roadmap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A4A"/>
                </a:solidFill>
                <a:latin typeface="Calibri"/>
              </a:rPr>
              <a:t>Layer B — abstain band (illustrative)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Calibri"/>
              </a:rPr>
              <a:t>Auto-route only when confident; middle band →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040" y="1618488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 dirty="0">
                <a:solidFill>
                  <a:srgbClr val="1A1A1A"/>
                </a:solidFill>
                <a:latin typeface="Calibri"/>
              </a:rPr>
              <a:t>Rule used here: low=0.4, high=0.6 (symmetric ±0.1; not tuned)</a:t>
            </a:r>
          </a:p>
          <a:p>
            <a:pPr lvl="1">
              <a:spcAft>
                <a:spcPts val="600"/>
              </a:spcAft>
            </a:pPr>
            <a:r>
              <a:rPr sz="1300" b="0" dirty="0">
                <a:solidFill>
                  <a:srgbClr val="4A5568"/>
                </a:solidFill>
                <a:latin typeface="Calibri"/>
              </a:rPr>
              <a:t>P ≥ 0.6 → Target · P ≤ 0.4 → Other · else abstain</a:t>
            </a:r>
          </a:p>
          <a:p>
            <a:pPr>
              <a:spcAft>
                <a:spcPts val="600"/>
              </a:spcAft>
            </a:pPr>
            <a:r>
              <a:rPr sz="1400" b="0" dirty="0">
                <a:solidFill>
                  <a:srgbClr val="1A1A1A"/>
                </a:solidFill>
                <a:latin typeface="Calibri"/>
              </a:rPr>
              <a:t>Coverage 77.5% (31/40) · abstain 22.5% (9/40)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216451"/>
              </p:ext>
            </p:extLst>
          </p:nvPr>
        </p:nvGraphicFramePr>
        <p:xfrm>
          <a:off x="2286005" y="3959350"/>
          <a:ext cx="67055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11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1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 marL="111760" marR="111760" marT="55880" marB="5588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coverage</a:t>
                      </a:r>
                    </a:p>
                  </a:txBody>
                  <a:tcPr marL="111760" marR="111760" marT="55880" marB="5588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111760" marR="111760" marT="55880" marB="5588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111760" marR="111760" marT="55880" marB="5588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111760" marR="111760" marT="55880" marB="55880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Layer A @0.5 (all rows)</a:t>
                      </a:r>
                    </a:p>
                  </a:txBody>
                  <a:tcPr marL="111760" marR="111760" marT="55880" marB="558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111760" marR="111760" marT="55880" marB="558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marL="111760" marR="111760" marT="55880" marB="558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0.86</a:t>
                      </a:r>
                    </a:p>
                  </a:txBody>
                  <a:tcPr marL="111760" marR="111760" marT="55880" marB="558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marL="111760" marR="111760" marT="55880" marB="5588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Layer B routed only</a:t>
                      </a:r>
                    </a:p>
                  </a:txBody>
                  <a:tcPr marL="111760" marR="111760" marT="55880" marB="5588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77.5%</a:t>
                      </a:r>
                    </a:p>
                  </a:txBody>
                  <a:tcPr marL="111760" marR="111760" marT="55880" marB="5588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111760" marR="111760" marT="55880" marB="5588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111760" marR="111760" marT="55880" marB="5588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marL="111760" marR="111760" marT="55880" marB="55880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505200" y="6089904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 dirty="0">
                <a:solidFill>
                  <a:srgbClr val="1A1A1A"/>
                </a:solidFill>
                <a:latin typeface="Calibri"/>
              </a:rPr>
              <a:t>Higher F1 on auto-routed subset — at the cost of coverage</a:t>
            </a:r>
          </a:p>
          <a:p>
            <a:pPr>
              <a:spcAft>
                <a:spcPts val="600"/>
              </a:spcAft>
            </a:pPr>
            <a:r>
              <a:rPr sz="1200" b="0" dirty="0">
                <a:solidFill>
                  <a:srgbClr val="1A1A1A"/>
                </a:solidFill>
                <a:latin typeface="Calibri"/>
              </a:rPr>
              <a:t>Band values remain illustrative until tuned on train/</a:t>
            </a:r>
            <a:r>
              <a:rPr sz="1200" b="0" dirty="0" err="1">
                <a:solidFill>
                  <a:srgbClr val="1A1A1A"/>
                </a:solidFill>
                <a:latin typeface="Calibri"/>
              </a:rPr>
              <a:t>val</a:t>
            </a:r>
            <a:endParaRPr sz="1200" b="0" dirty="0">
              <a:solidFill>
                <a:srgbClr val="1A1A1A"/>
              </a:solidFill>
              <a:latin typeface="Calibri"/>
            </a:endParaRPr>
          </a:p>
        </p:txBody>
      </p:sp>
      <p:pic>
        <p:nvPicPr>
          <p:cNvPr id="9" name="Picture 8" descr="v1_c27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885" y="923544"/>
            <a:ext cx="5394960" cy="266333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A4A"/>
                </a:solidFill>
                <a:latin typeface="Calibri"/>
              </a:rPr>
              <a:t>What the tuned model leans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Calibri"/>
              </a:rPr>
              <a:t>Global coefficients after GridSearch (from notebook)</a:t>
            </a:r>
          </a:p>
        </p:txBody>
      </p:sp>
      <p:pic>
        <p:nvPicPr>
          <p:cNvPr id="6" name="Picture 5" descr="v1_c3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789920" cy="53722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A5568"/>
                </a:solidFill>
                <a:latin typeface="Calibri"/>
              </a:rPr>
              <a:t>Still cloud/telecom vs other-domain tokens — consistent with the routing rule; local token tables omitted for readout clarity.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A4A"/>
                </a:solidFill>
                <a:latin typeface="Calibri"/>
              </a:rPr>
              <a:t>Next after v1 — model roadmap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Calibri"/>
              </a:rPr>
              <a:t>Same 7 themes as slide 8b · status after this v1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D6A4F"/>
                </a:solidFill>
                <a:latin typeface="Calibri"/>
              </a:rPr>
              <a:t>[Done] </a:t>
            </a:r>
            <a:r>
              <a:rPr sz="1100" b="0">
                <a:solidFill>
                  <a:srgbClr val="4A5568"/>
                </a:solidFill>
                <a:latin typeface="Calibri"/>
              </a:rPr>
              <a:t>completed in 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05156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56800"/>
                </a:solidFill>
                <a:latin typeface="Calibri"/>
              </a:rPr>
              <a:t>[In progress] </a:t>
            </a:r>
            <a:r>
              <a:rPr sz="1100" b="0">
                <a:solidFill>
                  <a:srgbClr val="4A5568"/>
                </a:solidFill>
                <a:latin typeface="Calibri"/>
              </a:rPr>
              <a:t>partially 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05156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Calibri"/>
              </a:rPr>
              <a:t>[Open] </a:t>
            </a:r>
            <a:r>
              <a:rPr sz="1100" b="0">
                <a:solidFill>
                  <a:srgbClr val="4A5568"/>
                </a:solidFill>
                <a:latin typeface="Calibri"/>
              </a:rPr>
              <a:t>not started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105156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B4B8A"/>
                </a:solidFill>
                <a:latin typeface="Calibri"/>
              </a:rPr>
              <a:t>[New] </a:t>
            </a:r>
            <a:r>
              <a:rPr sz="1100" b="0">
                <a:solidFill>
                  <a:srgbClr val="4A5568"/>
                </a:solidFill>
                <a:latin typeface="Calibri"/>
              </a:rPr>
              <a:t>added to roadmap this update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532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" y="1472184"/>
            <a:ext cx="5349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Calibri"/>
              </a:rPr>
              <a:t>[Open]  1. Representations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1A1A1A"/>
                </a:solidFill>
                <a:latin typeface="Calibri"/>
              </a:rPr>
              <a:t>Pretrained embeddings + linear/MLP head; meanwhile BoW lemma/stopwords/char-n-grams/SVD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4A5568"/>
                </a:solidFill>
                <a:latin typeface="Calibri"/>
              </a:rPr>
              <a:t>Not started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441448"/>
            <a:ext cx="5532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" y="2496312"/>
            <a:ext cx="5349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Calibri"/>
              </a:rPr>
              <a:t>[Open]  2. Features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1A1A1A"/>
                </a:solidFill>
                <a:latin typeface="Calibri"/>
              </a:rPr>
              <a:t>Add title + selected metadata (with leakage checks); combine with text features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4A5568"/>
                </a:solidFill>
                <a:latin typeface="Calibri"/>
              </a:rPr>
              <a:t>Not started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65576"/>
            <a:ext cx="5532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" y="3520440"/>
            <a:ext cx="5349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56800"/>
                </a:solidFill>
                <a:latin typeface="Calibri"/>
              </a:rPr>
              <a:t>[In progress]  3. Models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1A1A1A"/>
                </a:solidFill>
                <a:latin typeface="Calibri"/>
              </a:rPr>
              <a:t>Compare several classifiers + hyperparameter tuning; refine grids from CV diagnostics; stacking later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4A5568"/>
                </a:solidFill>
                <a:latin typeface="Calibri"/>
              </a:rPr>
              <a:t>Done: train CV + GridSearch + ranked diagnostics · Open: multi-classifier comparison / stacking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489704"/>
            <a:ext cx="5532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" y="4544568"/>
            <a:ext cx="5349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56800"/>
                </a:solidFill>
                <a:latin typeface="Calibri"/>
              </a:rPr>
              <a:t>[In progress]  4. Decisioning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1A1A1A"/>
                </a:solidFill>
                <a:latin typeface="Calibri"/>
              </a:rPr>
              <a:t>Tune thresholds / abstain bands on train only; calibrate probabilities for confidence routing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4A5568"/>
                </a:solidFill>
                <a:latin typeface="Calibri"/>
              </a:rPr>
              <a:t>Done: threshold analytics (default stays 0.5) + illustrative abstain band · Open: proper band/threshold tuning + calibration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417320"/>
            <a:ext cx="5440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27648" y="1472184"/>
            <a:ext cx="525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Calibri"/>
              </a:rPr>
              <a:t>[Open]  5. Evaluation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1A1A1A"/>
                </a:solidFill>
                <a:latin typeface="Calibri"/>
              </a:rPr>
              <a:t>Subgroup metrics; learning curves; nested CV when tuning; cost-sensitive metrics if FP/FN costs differ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4A5568"/>
                </a:solidFill>
                <a:latin typeface="Calibri"/>
              </a:rPr>
              <a:t>Not started (basic CV was for model selection, not these eval upgrades)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441448"/>
            <a:ext cx="5440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27648" y="2496312"/>
            <a:ext cx="525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56800"/>
                </a:solidFill>
                <a:latin typeface="Calibri"/>
              </a:rPr>
              <a:t>[In progress]  6. Explainability &amp; errors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1A1A1A"/>
                </a:solidFill>
                <a:latin typeface="Calibri"/>
              </a:rPr>
              <a:t>Richer local explanations; named failure-mode catalog from FP/FN reviews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4A5568"/>
                </a:solidFill>
                <a:latin typeface="Calibri"/>
              </a:rPr>
              <a:t>Done: global coefficients · Open: local explanations + error taxonomy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465576"/>
            <a:ext cx="5440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27648" y="3520440"/>
            <a:ext cx="525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Calibri"/>
              </a:rPr>
              <a:t>[Open]  7. Productization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1A1A1A"/>
                </a:solidFill>
                <a:latin typeface="Calibri"/>
              </a:rPr>
              <a:t>Versioned artifacts; batch/API inference; monitor drift; human-in-the-loop on abstains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4A5568"/>
                </a:solidFill>
                <a:latin typeface="Calibri"/>
              </a:rPr>
              <a:t>Not started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A5568"/>
                </a:solidFill>
                <a:latin typeface="Calibri"/>
              </a:rPr>
              <a:t>Roadmap changes this update: no new themes added. v1 advances existing items 3, 4, and 6 (partial).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2324</Words>
  <Application>Microsoft Macintosh PowerPoint</Application>
  <PresentationFormat>Widescreen</PresentationFormat>
  <Paragraphs>404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Jianchen Yang</cp:lastModifiedBy>
  <cp:revision>7</cp:revision>
  <dcterms:created xsi:type="dcterms:W3CDTF">2013-01-27T09:14:16Z</dcterms:created>
  <dcterms:modified xsi:type="dcterms:W3CDTF">2026-07-29T07:51:13Z</dcterms:modified>
  <cp:category/>
</cp:coreProperties>
</file>